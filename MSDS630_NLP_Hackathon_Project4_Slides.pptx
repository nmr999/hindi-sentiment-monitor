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nmr999/hindi-sentiment-monitor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nmr999/hindi-sentiment-monitor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228600"/>
            <a:ext cx="4389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0" b="1">
                <a:solidFill>
                  <a:srgbClr val="E8871E"/>
                </a:solidFill>
                <a:latin typeface="Nirmala UI"/>
              </a:rPr>
              <a:t>भाव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871E"/>
                </a:solidFill>
                <a:latin typeface="Calibri"/>
              </a:rPr>
              <a:t>MSDS 630 · NLP HACKATHON · PROJECT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7F4EC"/>
                </a:solidFill>
                <a:latin typeface="Calibri"/>
              </a:rPr>
              <a:t>Hindi Sentiment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9D1E0"/>
                </a:solidFill>
                <a:latin typeface="Calibri"/>
              </a:rPr>
              <a:t>Positive, neutral or negative: reading the mood of Hindi text with models you can explain line by 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515600" cy="18288"/>
          </a:xfrm>
          <a:prstGeom prst="rect">
            <a:avLst/>
          </a:prstGeom>
          <a:solidFill>
            <a:srgbClr val="3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7F4EC"/>
                </a:solidFill>
                <a:latin typeface="Calibri"/>
              </a:rPr>
              <a:t>Isha Joshi · Manikantha Kothamasu · Sowseelyatha Mutharaju · Muralidhar Reddy Nandi · Rohan Sabbani</a:t>
            </a:r>
          </a:p>
        </p:txBody>
      </p:sp>
      <p:sp>
        <p:nvSpPr>
          <p:cNvPr id="8" name="TextBox 7">
            <a:hlinkClick r:id="rId2"/>
          </p:cNvPr>
          <p:cNvSpPr txBox="1"/>
          <p:nvPr/>
        </p:nvSpPr>
        <p:spPr>
          <a:xfrm>
            <a:off x="822960" y="49560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871E"/>
                </a:solidFill>
                <a:latin typeface="Calibri"/>
              </a:rPr>
              <a:t>Code: https://github.com/nmr999/hindi-sentiment-monitor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85A0A"/>
                </a:solidFill>
                <a:latin typeface="Calibri"/>
              </a:rPr>
              <a:t>THE CLIENT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A brand launching in India needs to know how people feel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7A8C"/>
                </a:solidFill>
                <a:latin typeface="Calibri"/>
              </a:rPr>
              <a:t>Devanagari Hindi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4213D"/>
                </a:solidFill>
                <a:latin typeface="Nirmala UI"/>
              </a:rPr>
              <a:t>यह फोन बहुत अच्छा है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The focus of this build, with a labeled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7A8C"/>
                </a:solidFill>
                <a:latin typeface="Calibri"/>
              </a:rPr>
              <a:t>Hinglish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4213D"/>
                </a:solidFill>
                <a:latin typeface="Calibri"/>
              </a:rPr>
              <a:t>yeh phone bahut accha hai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7548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Hindi in Latin letters, no standard spelling. Not covered yet.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37744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7A8C"/>
                </a:solidFill>
                <a:latin typeface="Calibri"/>
              </a:rPr>
              <a:t>Mixed with English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4213D"/>
                </a:solidFill>
                <a:latin typeface="Calibri"/>
              </a:rPr>
              <a:t>battery life is bekaar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Code-switching inside one post. Not covered yet.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English-only sentiment tools miss most of this conversation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85A0A"/>
                </a:solidFill>
                <a:latin typeface="Calibri"/>
              </a:rP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2,500 labeled Hindi sentences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4480560" cy="15544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7A8C"/>
                </a:solidFill>
                <a:latin typeface="Calibri"/>
              </a:rPr>
              <a:t>2,498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usable rows after de-duplication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69080"/>
            <a:ext cx="4480560" cy="15544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7A8C"/>
                </a:solidFill>
                <a:latin typeface="Calibri"/>
              </a:rPr>
              <a:t>70 / 15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train, dev, test; stratified; seed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Calibri"/>
              </a:rPr>
              <a:t>Label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95351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Calibri"/>
              </a:rPr>
              <a:t>Positive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880360"/>
            <a:ext cx="3931920" cy="45720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27080" y="29535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955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68503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Calibri"/>
              </a:rPr>
              <a:t>Negative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3611880"/>
            <a:ext cx="3491380" cy="45720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86540" y="36850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848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4165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Calibri"/>
              </a:rPr>
              <a:t>Neutral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4343400"/>
            <a:ext cx="2869684" cy="45720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64844" y="44165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Calibri"/>
              </a:rPr>
              <a:t>697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5212080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Short sentences of about 7 words, all Devanagari. Duplicates were removed before splitting, so no sentence appears in both train and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SentiHin-2500 (Hugging Face MLap/SentiHin-2500)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871E"/>
                </a:solidFill>
                <a:latin typeface="Calibri"/>
              </a:rPr>
              <a:t>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7F4EC"/>
                </a:solidFill>
                <a:latin typeface="Calibri"/>
              </a:rPr>
              <a:t>Simple, explainable, and honestly evaluated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871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7F4EC"/>
                </a:solidFill>
                <a:latin typeface="Calibri"/>
              </a:rPr>
              <a:t>Normalize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E0"/>
                </a:solidFill>
                <a:latin typeface="Calibri"/>
              </a:rPr>
              <a:t>Unicode NFC, URLs and @mentions removed, the danda as its own token, Latin letters lowercased.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37744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6060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871E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29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7F4EC"/>
                </a:solidFill>
                <a:latin typeface="Calibri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02336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E0"/>
                </a:solidFill>
                <a:latin typeface="Calibri"/>
              </a:rPr>
              <a:t>TF-IDF on words (1 to 2-grams) and characters (2 to 5-grams), fit on training data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871E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29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7F4EC"/>
                </a:solidFill>
                <a:latin typeface="Calibri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E0"/>
                </a:solidFill>
                <a:latin typeface="Calibri"/>
              </a:rPr>
              <a:t>Naive Bayes baseline, logistic regression tuned on dev, a negation-aware variant, then fine-tuned MuRIL.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237744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9" y="26060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871E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3429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7F4EC"/>
                </a:solidFill>
                <a:latin typeface="Calibri"/>
              </a:rPr>
              <a:t>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402336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1E0"/>
                </a:solidFill>
                <a:latin typeface="Calibri"/>
              </a:rPr>
              <a:t>Macro-F1 with confidence intervals, 5-fold CV, per-class scores, hand-labeled errors.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E0"/>
                </a:solidFill>
                <a:latin typeface="Calibri"/>
              </a:rPr>
              <a:t>Classical models run offline on a laptop; MuRIL was fine-tuned on a Colab GPU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85A0A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Paste posts, see the sentiment</a:t>
            </a:r>
          </a:p>
        </p:txBody>
      </p:sp>
      <p:pic>
        <p:nvPicPr>
          <p:cNvPr id="4" name="Picture 3" descr="demo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5669280" cy="2294295"/>
          </a:xfrm>
          <a:prstGeom prst="rect">
            <a:avLst/>
          </a:prstGeom>
        </p:spPr>
      </p:pic>
      <p:pic>
        <p:nvPicPr>
          <p:cNvPr id="5" name="Picture 4" descr="demo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34575"/>
            <a:ext cx="5669280" cy="1218863"/>
          </a:xfrm>
          <a:prstGeom prst="rect">
            <a:avLst/>
          </a:prstGeom>
        </p:spPr>
      </p:pic>
      <p:pic>
        <p:nvPicPr>
          <p:cNvPr id="6" name="Picture 5" descr="demo_over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057400"/>
            <a:ext cx="4846320" cy="22724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4512764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4213D"/>
                </a:solidFill>
                <a:latin typeface="Calibri"/>
              </a:rPr>
              <a:t>Paste posts or upload a CSV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4213D"/>
                </a:solidFill>
                <a:latin typeface="Calibri"/>
              </a:rPr>
              <a:t>Batch breakdown by sentiment and script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4213D"/>
                </a:solidFill>
                <a:latin typeface="Calibri"/>
              </a:rPr>
              <a:t>Runs offline on a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Screenshots from our live Streamlit app, running the logistic regression model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85A0A"/>
                </a:solidFill>
                <a:latin typeface="Calibri"/>
              </a:rPr>
              <a:t>RESULTS ON THE TEST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Fine-tuned MuRIL reaches 0.975 macro-F1, up from 0.945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2606040" cy="33832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7A8C"/>
                </a:solidFill>
                <a:latin typeface="Calibri"/>
              </a:rPr>
              <a:t>NAIVE BAYES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4213D"/>
                </a:solidFill>
                <a:latin typeface="Calibri"/>
              </a:rPr>
              <a:t>0.895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805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macro-F1, 375 test sentences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286000"/>
            <a:ext cx="2606040" cy="33832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514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7A8C"/>
                </a:solidFill>
                <a:latin typeface="Calibri"/>
              </a:rP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10896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4213D"/>
                </a:solidFill>
                <a:latin typeface="Calibri"/>
              </a:rPr>
              <a:t>0.945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4805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macro-F1, 375 test sentences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95% CI 0.921 to 0.966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2606040" cy="33832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7A8C"/>
                </a:solidFill>
                <a:latin typeface="Calibri"/>
              </a:rPr>
              <a:t>LR + NEGATION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10896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4213D"/>
                </a:solidFill>
                <a:latin typeface="Calibri"/>
              </a:rPr>
              <a:t>0.944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4805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macro-F1, 375 test sentences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95% CI 0.920 to 0.965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2286000"/>
            <a:ext cx="2606040" cy="33832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39" y="2514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871E"/>
                </a:solidFill>
                <a:latin typeface="Calibri"/>
              </a:rPr>
              <a:t>FINE-TUNED MURIL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10896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C"/>
                </a:solidFill>
                <a:latin typeface="Calibri"/>
              </a:rPr>
              <a:t>0.975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39" y="44805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9D1E0"/>
                </a:solidFill>
                <a:latin typeface="Calibri"/>
              </a:rPr>
              <a:t>macro-F1, 375 test sentences</a:t>
            </a:r>
          </a:p>
          <a:p>
            <a:pPr algn="l"/>
            <a:r>
              <a:rPr sz="1300" b="0">
                <a:solidFill>
                  <a:srgbClr val="C9D1E0"/>
                </a:solidFill>
                <a:latin typeface="Calibri"/>
              </a:rPr>
              <a:t>single run, Colab GPU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5-fold CV macro-F1: baseline LR 0.958 ± 0.006, with negation 0.963 ± 0.008. The two classical variants are within noise. MuRIL has no confidence interval (one run).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Same train/dev/test split for every model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85A0A"/>
                </a:solidFill>
                <a:latin typeface="Calibri"/>
              </a:rP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21 errors in 375 sentences, four causes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B85A0A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603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Calibri"/>
              </a:rPr>
              <a:t>Negation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Nirmala UI"/>
              </a:rPr>
              <a:t>इस निर्णय से कार्य में कोई सुधार नहीं हुआ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true negative, predicted neutral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B85A0A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5603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Calibri"/>
              </a:rPr>
              <a:t>Rare sentiment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Nirmala UI"/>
              </a:rPr>
              <a:t>यह प्रोडक्ट मेरी उम्मीदों पर खरा उतरा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576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true positive, predicted negative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B85A0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5720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Calibri"/>
              </a:rPr>
              <a:t>Mild sentiment, weak cue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Nirmala UI"/>
              </a:rPr>
              <a:t>ऑनलाइन प्लेटफ़ॉर्म की सुविधा सीमित रही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true negative, predicted positive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976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4805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B85A0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5720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Calibri"/>
              </a:rPr>
              <a:t>Ambiguous or factual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1663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213D"/>
                </a:solidFill>
                <a:latin typeface="Nirmala UI"/>
              </a:rPr>
              <a:t>यह जूता टाइट है।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6692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true negative, predicted neutral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All 21 test errors were labeled by hand. Negation features fixed 2 and added 2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871E"/>
                </a:solidFill>
                <a:latin typeface="Calibri"/>
              </a:rPr>
              <a:t>LIMITATIONS AND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7F4EC"/>
                </a:solidFill>
                <a:latin typeface="Calibri"/>
              </a:rPr>
              <a:t>Where this system should not be trusted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871E"/>
                </a:solidFill>
                <a:latin typeface="Calibri"/>
              </a:rPr>
              <a:t>Optimistic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9D1E0"/>
                </a:solidFill>
                <a:latin typeface="Calibri"/>
              </a:rPr>
              <a:t>About 43% of test sentences closely match a pattern in training. Real posts are messier.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5146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871E"/>
                </a:solidFill>
                <a:latin typeface="Calibri"/>
              </a:rPr>
              <a:t>One script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0632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9D1E0"/>
                </a:solidFill>
                <a:latin typeface="Calibri"/>
              </a:rPr>
              <a:t>Devanagari only. Hinglish, code-mixing, emoji and sarcasm are untested.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5196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871E"/>
                </a:solidFill>
                <a:latin typeface="Calibri"/>
              </a:rPr>
              <a:t>Negation and rare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9D1E0"/>
                </a:solidFill>
                <a:latin typeface="Calibri"/>
              </a:rPr>
              <a:t>Bag-of-words models miss “not good” patterns, even with negation marking, and words seen rarely.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5196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1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4805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871E"/>
                </a:solidFill>
                <a:latin typeface="Calibri"/>
              </a:rPr>
              <a:t>Aggregate use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0292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9D1E0"/>
                </a:solidFill>
                <a:latin typeface="Calibri"/>
              </a:rPr>
              <a:t>Fine for brand-level trends. Not for judging individuals; social data carries demographic bias.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D1E0"/>
                </a:solidFill>
                <a:latin typeface="Calibri"/>
              </a:rPr>
              <a:t>Report honestly: a modest number with an explanation beats an inflated one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85A0A"/>
                </a:solidFill>
                <a:latin typeface="Calibri"/>
              </a:rPr>
              <a:t>WITH ANOTHER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Harder data, a stronger model, human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3566160" cy="33832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7A8C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Calibri"/>
              </a:rPr>
              <a:t>Stress-test MuRIL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Repeat with several seeds for a confidence interval, and test on Hinglish and noisy posts.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566160" cy="33832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6060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7A8C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520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Calibri"/>
              </a:rPr>
              <a:t>Real social posts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11480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Add Hinglish and noisy tweets so scores reflect what the client will see.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377440"/>
            <a:ext cx="3566160" cy="338328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9050">
            <a:solidFill>
              <a:srgbClr val="E3DE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6060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7A8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20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Calibri"/>
              </a:rPr>
              <a:t>Human in the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11480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Route low-confidence posts to a reviewer instead of trusting every label.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Next steps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85A0A"/>
                </a:solidFill>
                <a:latin typeface="Calibri"/>
              </a:rPr>
              <a:t>TECHNICAL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Problem, data, method, results, limits,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85A0A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5394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213D"/>
                </a:solidFill>
                <a:latin typeface="Calibri"/>
              </a:rPr>
              <a:t>Classify Hindi text as positive, neutral or negative so a brand can monitor how customers feel. Scope: Devanagari Hindi only (instructor-approved).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85A0A"/>
                </a:solidFill>
                <a:latin typeface="Calibri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5394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213D"/>
                </a:solidFill>
                <a:latin typeface="Calibri"/>
              </a:rPr>
              <a:t>SentiHin-2500 (Hugging Face MLap/SentiHin-2500): 2,498 sentences after de-duplication; stratified 70/15/15 split, seed 42; 375 test sentences.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85A0A"/>
                </a:solidFill>
                <a:latin typeface="Calibri"/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213D"/>
                </a:solidFill>
                <a:latin typeface="Calibri"/>
              </a:rPr>
              <a:t>Unicode normalization; TF-IDF words (1-2) and characters (2-5), fit on train only; Naive Bayes; logistic regression tuned on dev; negation features; MuRIL fine-tuned on a Colab GPU. Metric: macro-F1.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600200"/>
          <a:ext cx="5257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777240"/>
                <a:gridCol w="777240"/>
                <a:gridCol w="77724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7F4EC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36576" marB="36576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7F4EC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L="73152" marR="73152" marT="36576" marB="36576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7F4EC"/>
                          </a:solidFill>
                          <a:latin typeface="Calibri"/>
                        </a:rPr>
                        <a:t>Neg F1</a:t>
                      </a:r>
                    </a:p>
                  </a:txBody>
                  <a:tcPr marL="73152" marR="73152" marT="36576" marB="36576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7F4EC"/>
                          </a:solidFill>
                          <a:latin typeface="Calibri"/>
                        </a:rPr>
                        <a:t>Neu F1</a:t>
                      </a:r>
                    </a:p>
                  </a:txBody>
                  <a:tcPr marL="73152" marR="73152" marT="36576" marB="36576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7F4EC"/>
                          </a:solidFill>
                          <a:latin typeface="Calibri"/>
                        </a:rPr>
                        <a:t>Pos F1</a:t>
                      </a:r>
                    </a:p>
                  </a:txBody>
                  <a:tcPr marL="73152" marR="73152" marT="36576" marB="36576">
                    <a:solidFill>
                      <a:srgbClr val="1421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Naive Bayes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0.895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0.945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LR + negation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0.944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73152" marR="73152" marT="36576" marB="36576">
                    <a:solidFill>
                      <a:srgbClr val="FFFD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Fine-tuned MuRIL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0.975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F7F4E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09360" y="3520440"/>
            <a:ext cx="5257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Test set, same split for every model. LR 95% CI 0.921 to 0.966. Negation features gave no gain. MuRIL is a single run with no confidence interval.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85A0A"/>
                </a:solidFill>
                <a:latin typeface="Calibri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213D"/>
                </a:solidFill>
                <a:latin typeface="Calibri"/>
              </a:rPr>
              <a:t>Short, templated, Devanagari-only data (about 43% of test sentences closely match a training pattern), so scores are optimistic. Negation and rare words cause most errors. Untested on Hinglish, sarcasm and long posts.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52628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85A0A"/>
                </a:solidFill>
                <a:latin typeface="Calibri"/>
              </a:rP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800600"/>
            <a:ext cx="5257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213D"/>
                </a:solidFill>
                <a:latin typeface="Calibri"/>
              </a:rPr>
              <a:t>Several MuRIL seeds for a confidence interval; Hinglish and real social posts; route low-confidence posts to a human reviewer.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7A8C"/>
                </a:solidFill>
                <a:latin typeface="Calibri"/>
                <a:hlinkClick r:id="rId2"/>
              </a:rPr>
              <a:t>Code and README: https://github.com/nmr999/hindi-sentiment-monitor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Thank you · Questions? ·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