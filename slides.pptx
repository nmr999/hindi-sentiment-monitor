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Manikantha Kothamasu, Team Lead (0-1 min). Introduce the team and the goal: a lightweight, explainable Hindi sentiment classifier. भाव (bhaav) means feeling or sentiment.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Manikantha Kothamasu, Team Lead (0-1 min). Frame the client need. Be upfront: this build covers Devanagari Hindi only, with instructor approval; Hinglish and mixed posts are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Rohan Sabbani, Data Engineer (1-3 min). 2,500 Hindi sentences, three classes, mildly imbalanced. De-duplicated on normalized text before the split to avoid leakage. Mention the data is short and fairly templated; the limitations slide explains the consequence.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Muralidhar Reddy Nandi, Modeling Lead (1-3 min). Four steps. Vectorizer fit on training only; macro-F1 rather than accuracy. Hyperparameters were chosen on dev, then the test set was used once. A negation-aware variant was tested because negation is the biggest error source; it did not help, which we report honestly. A pretrained Indian-language transformer, MuRIL, was then fine-tuned on a Colab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Isha Joshi, Demo Lead (3-6 min). These are real screenshots of the app. Switch to the live Streamlit app, paste a few lines including one with negation to show an honest failure. Fallback: python demo_cli.py.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Sowseelyatha Mutharaju, Evaluation Lead (6-8 min). Headline: fine-tuned MuRIL 0.975, logistic regression 0.945, Naive Bayes 0.895. The negation-aware variant scored 0.944; confidence intervals overlap completely and cross-validation differences are within one standard deviation, so we conclude negation marking did not help. It fixed 2 of 21 baseline errors but introduced 2 new ones. Fine-tuned MuRIL (google/muril-base-cased) scored 0.975 on the same split, the best result, but it is a single run with no confidence interval, so say 'about 3 points better' and not more. Caveat to say aloud: the data is easy, so treat scores as optimistic.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Sowseelyatha Mutharaju, Evaluation Lead (6-8 min). Neutral is often the hardest class and we report it separately as the brief asks. Here it scores highest because neutral sentences use very recognizable phrasing. That is a property of this dataset, not proof neutral is easy in the wild.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Sowseelyatha Mutharaju, Evaluation Lead (6-8 min), ideally with a Hindi speaker explaining the examples. Seven errors are negation (the model sees a positive word like सुधार and misses नहीं). Seven involve rare words. Three are mild sentiment. Four are arguable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Manikantha Kothamasu, Team Lead (8-10 min). Lead with the 43% figure: share of test sentences with at least 0.7 word-set overlap with some training sentence. Then script coverage, negation, and aggregate vs individual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Manikantha Kothamasu, Team Lead (8-10 min). Close with three next steps, then Q&amp;A. Every team member must be ready to explain any file in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228600"/>
            <a:ext cx="4389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0" b="1">
                <a:solidFill>
                  <a:srgbClr val="E8871E"/>
                </a:solidFill>
                <a:latin typeface="Nirmala UI"/>
              </a:rPr>
              <a:t>भाव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871E"/>
                </a:solidFill>
                <a:latin typeface="Calibri"/>
              </a:rPr>
              <a:t>MSDS 630 · NLP HACKATHON · PROJECT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7F4EC"/>
                </a:solidFill>
                <a:latin typeface="Calibri"/>
              </a:rPr>
              <a:t>Hindi Sentiment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6908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C9D1E0"/>
                </a:solidFill>
                <a:latin typeface="Calibri"/>
              </a:rPr>
              <a:t>Positive, neutral or negative: reading the mood of Hindi text with models you can explain line by 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94960"/>
            <a:ext cx="10515600" cy="18288"/>
          </a:xfrm>
          <a:prstGeom prst="rect">
            <a:avLst/>
          </a:prstGeom>
          <a:solidFill>
            <a:srgbClr val="3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7F4EC"/>
                </a:solidFill>
                <a:latin typeface="Calibri"/>
              </a:rPr>
              <a:t>Isha Joshi · Manikantha Kothamasu · Sowseelyatha Mutharaju · Muralidhar Reddy Nandi · Rohan Sabbani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85A0A"/>
                </a:solidFill>
                <a:latin typeface="Calibri"/>
              </a:rPr>
              <a:t>THE CLIENT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4213D"/>
                </a:solidFill>
                <a:latin typeface="Calibri"/>
              </a:rPr>
              <a:t>A brand launching in India needs to know how people feel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7A8C"/>
                </a:solidFill>
                <a:latin typeface="Calibri"/>
              </a:rPr>
              <a:t>Devanagari Hindi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14213D"/>
                </a:solidFill>
                <a:latin typeface="Nirmala UI"/>
              </a:rPr>
              <a:t>यह फोन बहुत अच्छा है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The focus of this build, with a labeled dataset.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37744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651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7A8C"/>
                </a:solidFill>
                <a:latin typeface="Calibri"/>
              </a:rPr>
              <a:t>Hinglish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20040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14213D"/>
                </a:solidFill>
                <a:latin typeface="Calibri"/>
              </a:rPr>
              <a:t>yeh phone bahut accha hai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75488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Hindi in Latin letters, no standard spelling. Not covered yet.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237744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651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7A8C"/>
                </a:solidFill>
                <a:latin typeface="Calibri"/>
              </a:rPr>
              <a:t>Mixed with English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0040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14213D"/>
                </a:solidFill>
                <a:latin typeface="Calibri"/>
              </a:rPr>
              <a:t>battery life is bekaar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75488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Code-switching inside one post. Not covered yet.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English-only sentiment tools miss most of this conversation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85A0A"/>
                </a:solidFill>
                <a:latin typeface="Calibri"/>
              </a:rPr>
              <a:t>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4213D"/>
                </a:solidFill>
                <a:latin typeface="Calibri"/>
              </a:rPr>
              <a:t>2,500 labeled Hindi sentences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4480560" cy="155448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4023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F7A8C"/>
                </a:solidFill>
                <a:latin typeface="Calibri"/>
              </a:rPr>
              <a:t>2,498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usable rows after de-duplication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069080"/>
            <a:ext cx="4480560" cy="155448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60"/>
            <a:ext cx="4023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F7A8C"/>
                </a:solidFill>
                <a:latin typeface="Calibri"/>
              </a:rPr>
              <a:t>70 / 15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train, dev, test; stratified; seed 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286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Calibri"/>
              </a:rPr>
              <a:t>Label 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95351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Calibri"/>
              </a:rPr>
              <a:t>Positive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880360"/>
            <a:ext cx="3931920" cy="457200"/>
          </a:xfrm>
          <a:prstGeom prst="roundRect">
            <a:avLst>
              <a:gd name="adj" fmla="val 6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27080" y="29535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955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68503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Calibri"/>
              </a:rPr>
              <a:t>Negative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3611880"/>
            <a:ext cx="3491380" cy="457200"/>
          </a:xfrm>
          <a:prstGeom prst="roundRect">
            <a:avLst>
              <a:gd name="adj" fmla="val 6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86540" y="36850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848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441655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Calibri"/>
              </a:rPr>
              <a:t>Neutral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4343400"/>
            <a:ext cx="2869684" cy="457200"/>
          </a:xfrm>
          <a:prstGeom prst="roundRect">
            <a:avLst>
              <a:gd name="adj" fmla="val 6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64844" y="44165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697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5212080"/>
            <a:ext cx="5852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Short sentences of about 7 words, all Devanagari. Duplicates were removed before splitting, so no sentence appears in both train and test.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SentiHin-2500 (Hugging Face MLap/SentiHin-2500)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871E"/>
                </a:solidFill>
                <a:latin typeface="Calibri"/>
              </a:rPr>
              <a:t>THE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7F4EC"/>
                </a:solidFill>
                <a:latin typeface="Calibri"/>
              </a:rPr>
              <a:t>Simple, explainable, and honestly evaluated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8871E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7F4EC"/>
                </a:solidFill>
                <a:latin typeface="Calibri"/>
              </a:rPr>
              <a:t>Normalize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9D1E0"/>
                </a:solidFill>
                <a:latin typeface="Calibri"/>
              </a:rPr>
              <a:t>Unicode NFC, URLs and @mentions removed, the danda as its own token, Latin letters lowercased.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37744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6060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8871E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290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7F4EC"/>
                </a:solidFill>
                <a:latin typeface="Calibri"/>
              </a:rP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402336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9D1E0"/>
                </a:solidFill>
                <a:latin typeface="Calibri"/>
              </a:rPr>
              <a:t>TF-IDF on words (1 to 2-grams) and characters (2 to 5-grams), fit on training data only.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8871E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4290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7F4EC"/>
                </a:solidFill>
                <a:latin typeface="Calibri"/>
              </a:rPr>
              <a:t>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02336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9D1E0"/>
                </a:solidFill>
                <a:latin typeface="Calibri"/>
              </a:rPr>
              <a:t>Naive Bayes baseline, logistic regression tuned on dev, a negation-aware variant, then fine-tuned MuRIL.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237744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59" y="26060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8871E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59" y="34290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7F4EC"/>
                </a:solidFill>
                <a:latin typeface="Calibri"/>
              </a:rPr>
              <a:t>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402336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9D1E0"/>
                </a:solidFill>
                <a:latin typeface="Calibri"/>
              </a:rPr>
              <a:t>Macro-F1 with confidence intervals, 5-fold CV, per-class scores, hand-labeled errors.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E0"/>
                </a:solidFill>
                <a:latin typeface="Calibri"/>
              </a:rPr>
              <a:t>Classical models run offline on a laptop; MuRIL was fine-tuned on a Colab GPU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85A0A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4213D"/>
                </a:solidFill>
                <a:latin typeface="Calibri"/>
              </a:rPr>
              <a:t>Paste posts, see the sentiment</a:t>
            </a:r>
          </a:p>
        </p:txBody>
      </p:sp>
      <p:pic>
        <p:nvPicPr>
          <p:cNvPr id="4" name="Picture 3" descr="demo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5669280" cy="2294295"/>
          </a:xfrm>
          <a:prstGeom prst="rect">
            <a:avLst/>
          </a:prstGeom>
        </p:spPr>
      </p:pic>
      <p:pic>
        <p:nvPicPr>
          <p:cNvPr id="5" name="Picture 4" descr="demo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34575"/>
            <a:ext cx="5669280" cy="1218863"/>
          </a:xfrm>
          <a:prstGeom prst="rect">
            <a:avLst/>
          </a:prstGeom>
        </p:spPr>
      </p:pic>
      <p:pic>
        <p:nvPicPr>
          <p:cNvPr id="6" name="Picture 5" descr="demo_over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057400"/>
            <a:ext cx="4846320" cy="22724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4512764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4213D"/>
                </a:solidFill>
                <a:latin typeface="Calibri"/>
              </a:rPr>
              <a:t>Paste posts or upload a CSV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4213D"/>
                </a:solidFill>
                <a:latin typeface="Calibri"/>
              </a:rPr>
              <a:t>Batch breakdown by sentiment and script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4213D"/>
                </a:solidFill>
                <a:latin typeface="Calibri"/>
              </a:rPr>
              <a:t>Runs offline on a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Screenshots from our live Streamlit app, running the logistic regression model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85A0A"/>
                </a:solidFill>
                <a:latin typeface="Calibri"/>
              </a:rPr>
              <a:t>RESULTS ON THE TEST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4213D"/>
                </a:solidFill>
                <a:latin typeface="Calibri"/>
              </a:rPr>
              <a:t>Fine-tuned MuRIL reaches 0.975 macro-F1, up from 0.945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2606040" cy="338328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7A8C"/>
                </a:solidFill>
                <a:latin typeface="Calibri"/>
              </a:rPr>
              <a:t>NAIVE BAYES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0896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14213D"/>
                </a:solidFill>
                <a:latin typeface="Calibri"/>
              </a:rPr>
              <a:t>0.895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48056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macro-F1, 375 test sentences</a:t>
            </a:r>
          </a:p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286000"/>
            <a:ext cx="2606040" cy="338328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5146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7A8C"/>
                </a:solidFill>
                <a:latin typeface="Calibri"/>
              </a:rPr>
              <a:t>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10896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14213D"/>
                </a:solidFill>
                <a:latin typeface="Calibri"/>
              </a:rPr>
              <a:t>0.945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48056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macro-F1, 375 test sentences</a:t>
            </a:r>
          </a:p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95% CI 0.921 to 0.966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286000"/>
            <a:ext cx="2606040" cy="338328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5146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7A8C"/>
                </a:solidFill>
                <a:latin typeface="Calibri"/>
              </a:rPr>
              <a:t>LR + NEGATION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10896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14213D"/>
                </a:solidFill>
                <a:latin typeface="Calibri"/>
              </a:rPr>
              <a:t>0.944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48056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macro-F1, 375 test sentences</a:t>
            </a:r>
          </a:p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95% CI 0.920 to 0.965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2286000"/>
            <a:ext cx="2606040" cy="338328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39" y="25146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871E"/>
                </a:solidFill>
                <a:latin typeface="Calibri"/>
              </a:rPr>
              <a:t>FINE-TUNED MURIL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310896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7F4EC"/>
                </a:solidFill>
                <a:latin typeface="Calibri"/>
              </a:rPr>
              <a:t>0.975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39" y="448056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9D1E0"/>
                </a:solidFill>
                <a:latin typeface="Calibri"/>
              </a:rPr>
              <a:t>macro-F1, 375 test sentences</a:t>
            </a:r>
          </a:p>
          <a:p>
            <a:pPr algn="l"/>
            <a:r>
              <a:rPr sz="1300" b="0">
                <a:solidFill>
                  <a:srgbClr val="C9D1E0"/>
                </a:solidFill>
                <a:latin typeface="Calibri"/>
              </a:rPr>
              <a:t>single run, Colab GPU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5-fold CV macro-F1: baseline LR 0.958 ± 0.006, with negation 0.963 ± 0.008. The two classical variants are within noise. MuRIL has no confidence interval (one run).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Same train/dev/test split for every model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85A0A"/>
                </a:solidFill>
                <a:latin typeface="Calibri"/>
              </a:rPr>
              <a:t>PER-CLASS F1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4213D"/>
                </a:solidFill>
                <a:latin typeface="Calibri"/>
              </a:rPr>
              <a:t>Neutral is the strongest class on this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201168" cy="20116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671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4213D"/>
                </a:solidFill>
                <a:latin typeface="Calibri"/>
              </a:rPr>
              <a:t>Logistic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194560"/>
            <a:ext cx="201168" cy="201168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21671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4213D"/>
                </a:solidFill>
                <a:latin typeface="Calibri"/>
              </a:rPr>
              <a:t>Naive Bayes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Calibri"/>
              </a:rPr>
              <a:t>Negative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2743200"/>
            <a:ext cx="6788505" cy="38404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7385" y="27889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Calibri"/>
              </a:rPr>
              <a:t>0.93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3200400"/>
            <a:ext cx="6397323" cy="384048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6203" y="32461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0.87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Calibri"/>
              </a:rPr>
              <a:t>Neutral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3886200"/>
            <a:ext cx="7008982" cy="38404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77862" y="39319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Calibri"/>
              </a:rPr>
              <a:t>0.96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4343400"/>
            <a:ext cx="6699902" cy="384048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68782" y="43891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0.92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12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Calibri"/>
              </a:rPr>
              <a:t>Positive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5029200"/>
            <a:ext cx="6930189" cy="38404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9069" y="50749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Calibri"/>
              </a:rPr>
              <a:t>0.95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5486400"/>
            <a:ext cx="6538127" cy="384048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7007" y="55321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0.89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Neutral usually trails on social data; here its wording is distinctive, which flatters the score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85A0A"/>
                </a:solidFill>
                <a:latin typeface="Calibri"/>
              </a:rPr>
              <a:t>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4213D"/>
                </a:solidFill>
                <a:latin typeface="Calibri"/>
              </a:rPr>
              <a:t>21 errors in 375 sentences, four causes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B85A0A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603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latin typeface="Calibri"/>
              </a:rPr>
              <a:t>Negation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Nirmala UI"/>
              </a:rPr>
              <a:t>इस निर्णय से कार्य में कोई सुधार नहीं हुआ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true negative, predicted neutral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860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B85A0A"/>
                </a:solidFill>
                <a:latin typeface="Calibr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5603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latin typeface="Calibri"/>
              </a:rPr>
              <a:t>Rare sentiment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1546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Nirmala UI"/>
              </a:rPr>
              <a:t>यह प्रोडक्ट मेरी उम्मीदों पर खरा उतरा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6576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true positive, predicted negative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976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B85A0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5720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latin typeface="Calibri"/>
              </a:rPr>
              <a:t>Mild sentiment, weak cue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Nirmala UI"/>
              </a:rPr>
              <a:t>ऑनलाइन प्लेटफ़ॉर्म की सुविधा सीमित रही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true negative, predicted positive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2976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48056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B85A0A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5720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latin typeface="Calibri"/>
              </a:rPr>
              <a:t>Ambiguous or factual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1663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Nirmala UI"/>
              </a:rPr>
              <a:t>यह जूता टाइट है।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6692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true negative, predicted neutral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All 21 test errors were labeled by hand. Negation features fixed 2 and added 2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871E"/>
                </a:solidFill>
                <a:latin typeface="Calibri"/>
              </a:rPr>
              <a:t>LIMITATIONS AND ETHICS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7F4EC"/>
                </a:solidFill>
                <a:latin typeface="Calibri"/>
              </a:rPr>
              <a:t>Where this system should not be trusted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871E"/>
                </a:solidFill>
                <a:latin typeface="Calibri"/>
              </a:rPr>
              <a:t>Optimistic scores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C9D1E0"/>
                </a:solidFill>
                <a:latin typeface="Calibri"/>
              </a:rPr>
              <a:t>About 43% of test sentences closely match a pattern in training. Real posts are messier.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86000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5146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871E"/>
                </a:solidFill>
                <a:latin typeface="Calibri"/>
              </a:rPr>
              <a:t>One script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06324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C9D1E0"/>
                </a:solidFill>
                <a:latin typeface="Calibri"/>
              </a:rPr>
              <a:t>Devanagari only. Hinglish, code-mixing, emoji and sarcasm are untested.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51960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871E"/>
                </a:solidFill>
                <a:latin typeface="Calibri"/>
              </a:rPr>
              <a:t>Negation and rare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C9D1E0"/>
                </a:solidFill>
                <a:latin typeface="Calibri"/>
              </a:rPr>
              <a:t>Bag-of-words models miss “not good” patterns, even with negation marking, and words seen rarely.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51960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4805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871E"/>
                </a:solidFill>
                <a:latin typeface="Calibri"/>
              </a:rPr>
              <a:t>Aggregate use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02920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C9D1E0"/>
                </a:solidFill>
                <a:latin typeface="Calibri"/>
              </a:rPr>
              <a:t>Fine for brand-level trends. Not for judging individuals; social data carries demographic bias.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E0"/>
                </a:solidFill>
                <a:latin typeface="Calibri"/>
              </a:rPr>
              <a:t>Report honestly: a modest number with an explanation beats an inflated one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85A0A"/>
                </a:solidFill>
                <a:latin typeface="Calibri"/>
              </a:rPr>
              <a:t>WITH ANOTHER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4213D"/>
                </a:solidFill>
                <a:latin typeface="Calibri"/>
              </a:rPr>
              <a:t>Harder data, a stronger model, human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3566160" cy="338328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F7A8C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4213D"/>
                </a:solidFill>
                <a:latin typeface="Calibri"/>
              </a:rPr>
              <a:t>Stress-test MuRIL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Repeat with several seeds for a confidence interval, and test on Hinglish and noisy posts.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377440"/>
            <a:ext cx="3566160" cy="338328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60604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F7A8C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5204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4213D"/>
                </a:solidFill>
                <a:latin typeface="Calibri"/>
              </a:rPr>
              <a:t>Real social posts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11480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Add Hinglish and noisy tweets so scores reflect what the client will see.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2377440"/>
            <a:ext cx="3566160" cy="338328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60604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F7A8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5204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4213D"/>
                </a:solidFill>
                <a:latin typeface="Calibri"/>
              </a:rPr>
              <a:t>Human in the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11480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Route low-confidence posts to a reviewer instead of trusting every label.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Thank you · Questions? ·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